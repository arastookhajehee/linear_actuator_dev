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comments/modernComment_102_0.xml" ContentType="application/vnd.ms-powerpoint.comments+xml"/>
  <Override PartName="/ppt/comments/modernComment_106_0.xml" ContentType="application/vnd.ms-powerpoint.comment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comments/modernComment_104_0.xml" ContentType="application/vnd.ms-powerpoint.comment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comments/modernComment_105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2" r:id="rId5"/>
    <p:sldId id="260" r:id="rId6"/>
    <p:sldId id="261"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5"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66FD7CB-885E-7DEF-6248-0EDB397AB587}" name="KHAJEHEE　Arastoo" initials="AK" userId="S::7320637576@utac.u-tokyo.ac.jp::227dc3cc-3acd-4ef0-a17f-c092e389836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43" d="100"/>
          <a:sy n="143" d="100"/>
        </p:scale>
        <p:origin x="120" y="384"/>
      </p:cViewPr>
      <p:guideLst>
        <p:guide orient="horz" pos="210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omments/modernComment_102_0.xml><?xml version="1.0" encoding="utf-8"?>
<p188:cmLst xmlns:a="http://schemas.openxmlformats.org/drawingml/2006/main" xmlns:r="http://schemas.openxmlformats.org/officeDocument/2006/relationships" xmlns:p188="http://schemas.microsoft.com/office/powerpoint/2018/8/main">
  <p188:cm id="{C55723BB-019D-4E5A-9744-CA7D52FFDF69}" authorId="{466FD7CB-885E-7DEF-6248-0EDB397AB587}" created="2026-06-27T03:45:03.554">
    <ac:txMkLst xmlns:ac="http://schemas.microsoft.com/office/drawing/2013/main/command">
      <pc:docMk xmlns:pc="http://schemas.microsoft.com/office/powerpoint/2013/main/command"/>
      <pc:sldMk xmlns:pc="http://schemas.microsoft.com/office/powerpoint/2013/main/command" cId="0" sldId="258"/>
      <ac:spMk id="3" creationId="{00000000-0000-0000-0000-000000000000}"/>
      <ac:txMk cp="189" len="61">
        <ac:context len="606" hash="692647395"/>
      </ac:txMk>
    </ac:txMkLst>
    <p188:pos x="10081074" y="1171823"/>
    <p188:txBody>
      <a:bodyPr/>
      <a:lstStyle/>
      <a:p>
        <a:r>
          <a:rPr lang="en-US"/>
          <a:t>Improve the system in what specific way?
Not going into too much detail, Please add some bullet points next time</a:t>
        </a:r>
      </a:p>
    </p188:txBody>
  </p188:cm>
  <p188:cm id="{7486E120-19D2-4AE6-847A-E8EA46529F3D}" authorId="{466FD7CB-885E-7DEF-6248-0EDB397AB587}" created="2026-06-27T03:46:12.122">
    <ac:txMkLst xmlns:ac="http://schemas.microsoft.com/office/drawing/2013/main/command">
      <pc:docMk xmlns:pc="http://schemas.microsoft.com/office/powerpoint/2013/main/command"/>
      <pc:sldMk xmlns:pc="http://schemas.microsoft.com/office/powerpoint/2013/main/command" cId="0" sldId="258"/>
      <ac:spMk id="3" creationId="{00000000-0000-0000-0000-000000000000}"/>
      <ac:txMk cp="251" len="211">
        <ac:context len="606" hash="692647395"/>
      </ac:txMk>
    </ac:txMkLst>
    <p188:pos x="9202358" y="1769528"/>
    <p188:txBody>
      <a:bodyPr/>
      <a:lstStyle/>
      <a:p>
        <a:r>
          <a:rPr lang="en-US"/>
          <a:t>Agreed. A get_current_position routine to receive the current value of the sensors is a valid improvment</a:t>
        </a:r>
      </a:p>
    </p188:txBody>
  </p188:cm>
  <p188:cm id="{1D325BD8-168F-4DF9-A2A4-4352129E59B7}" authorId="{466FD7CB-885E-7DEF-6248-0EDB397AB587}" created="2026-06-27T03:52:26.962">
    <ac:txMkLst xmlns:ac="http://schemas.microsoft.com/office/drawing/2013/main/command">
      <pc:docMk xmlns:pc="http://schemas.microsoft.com/office/powerpoint/2013/main/command"/>
      <pc:sldMk xmlns:pc="http://schemas.microsoft.com/office/powerpoint/2013/main/command" cId="0" sldId="258"/>
      <ac:spMk id="3" creationId="{00000000-0000-0000-0000-000000000000}"/>
      <ac:txMk cp="463" len="142">
        <ac:context len="606" hash="692647395"/>
      </ac:txMk>
    </ac:txMkLst>
    <p188:pos x="10103377" y="3254871"/>
    <p188:txBody>
      <a:bodyPr/>
      <a:lstStyle/>
      <a:p>
        <a:r>
          <a:rPr lang="en-US"/>
          <a:t>I do not think so. The sensors are quite accurate and reliable. There is no need for recalibration.
The following measures may be useful:
1. Test and validate sensor reading value against a benchmark sensor.:
- Deviation
- Offset
- bias
- noise
2. Add these parameters to the controller program that runs that sensor.</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C4E23466-8395-40F7-BBE1-7314404F00ED}" authorId="{466FD7CB-885E-7DEF-6248-0EDB397AB587}" created="2026-06-27T04:00:13.801">
    <ac:txMkLst xmlns:ac="http://schemas.microsoft.com/office/drawing/2013/main/command">
      <pc:docMk xmlns:pc="http://schemas.microsoft.com/office/powerpoint/2013/main/command"/>
      <pc:sldMk xmlns:pc="http://schemas.microsoft.com/office/powerpoint/2013/main/command" cId="0" sldId="260"/>
      <ac:spMk id="20" creationId="{00000000-0000-0000-0000-000000000000}"/>
      <ac:txMk cp="0" len="82">
        <ac:context len="83" hash="633332526"/>
      </ac:txMk>
    </ac:txMkLst>
    <p188:pos x="5745619" y="149628"/>
    <p188:txBody>
      <a:bodyPr/>
      <a:lstStyle/>
      <a:p>
        <a:r>
          <a:rPr lang="en-US"/>
          <a:t>Agreed, better understanding of the PWM specifications will give us more control.</a:t>
        </a:r>
      </a:p>
    </p188:txBody>
  </p188:cm>
  <p188:cm id="{DC9640D0-260E-4FF3-A7A2-92DF33F6B4E0}" authorId="{466FD7CB-885E-7DEF-6248-0EDB397AB587}" created="2026-06-27T04:01:48.653">
    <ac:txMkLst xmlns:ac="http://schemas.microsoft.com/office/drawing/2013/main/command">
      <pc:docMk xmlns:pc="http://schemas.microsoft.com/office/powerpoint/2013/main/command"/>
      <pc:sldMk xmlns:pc="http://schemas.microsoft.com/office/powerpoint/2013/main/command" cId="0" sldId="260"/>
      <ac:spMk id="2" creationId="{00000000-0000-0000-0000-000000000000}"/>
      <ac:txMk cp="0" len="110">
        <ac:context len="111" hash="3539793250"/>
      </ac:txMk>
    </ac:txMkLst>
    <p188:pos x="3934661" y="150325"/>
    <p188:txBody>
      <a:bodyPr/>
      <a:lstStyle/>
      <a:p>
        <a:r>
          <a:rPr lang="en-US"/>
          <a:t>Agreed.
For now, let’s implement a multi-layer speed setup, with different distance thresholds.</a:t>
        </a:r>
      </a:p>
    </p188:txBody>
  </p188:cm>
  <p188:cm id="{8F5E97CD-3A84-4B86-A74B-A59F601BD57E}" authorId="{466FD7CB-885E-7DEF-6248-0EDB397AB587}" created="2026-06-27T04:02:12.176">
    <ac:txMkLst xmlns:ac="http://schemas.microsoft.com/office/drawing/2013/main/command">
      <pc:docMk xmlns:pc="http://schemas.microsoft.com/office/powerpoint/2013/main/command"/>
      <pc:sldMk xmlns:pc="http://schemas.microsoft.com/office/powerpoint/2013/main/command" cId="0" sldId="260"/>
      <ac:spMk id="25" creationId="{00000000-0000-0000-0000-000000000000}"/>
      <ac:txMk cp="0" len="141">
        <ac:context len="143" hash="3464052168"/>
      </ac:txMk>
    </ac:txMkLst>
    <p188:pos x="6138142" y="150201"/>
    <p188:txBody>
      <a:bodyPr/>
      <a:lstStyle/>
      <a:p>
        <a:r>
          <a:rPr lang="en-US"/>
          <a:t>Agreed</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1DEFF96E-BD26-4655-9653-7BCCE40DA6B8}" authorId="{466FD7CB-885E-7DEF-6248-0EDB397AB587}" created="2026-06-27T04:02:49.035">
    <ac:txMkLst xmlns:ac="http://schemas.microsoft.com/office/drawing/2013/main/command">
      <pc:docMk xmlns:pc="http://schemas.microsoft.com/office/powerpoint/2013/main/command"/>
      <pc:sldMk xmlns:pc="http://schemas.microsoft.com/office/powerpoint/2013/main/command" cId="0" sldId="261"/>
      <ac:spMk id="18" creationId="{00000000-0000-0000-0000-000000000000}"/>
      <ac:txMk cp="0" len="115">
        <ac:context len="117" hash="2103399725"/>
      </ac:txMk>
    </ac:txMkLst>
    <p188:pos x="5906383" y="151176"/>
    <p188:txBody>
      <a:bodyPr/>
      <a:lstStyle/>
      <a:p>
        <a:r>
          <a:rPr lang="en-US"/>
          <a:t>Skip this step and trust the sensor reading for the linear actuator position.</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36C798A3-89EF-4106-B841-020A25DF7B9A}" authorId="{466FD7CB-885E-7DEF-6248-0EDB397AB587}" created="2026-06-27T03:55:22.676">
    <ac:txMkLst xmlns:ac="http://schemas.microsoft.com/office/drawing/2013/main/command">
      <pc:docMk xmlns:pc="http://schemas.microsoft.com/office/powerpoint/2013/main/command"/>
      <pc:sldMk xmlns:pc="http://schemas.microsoft.com/office/powerpoint/2013/main/command" cId="0" sldId="262"/>
      <ac:spMk id="3" creationId="{00000000-0000-0000-0000-000000000000}"/>
      <ac:txMk cp="0" len="210">
        <ac:context len="631" hash="3328507727"/>
      </ac:txMk>
    </ac:txMkLst>
    <p188:pos x="10259494" y="150371"/>
    <p188:txBody>
      <a:bodyPr/>
      <a:lstStyle/>
      <a:p>
        <a:r>
          <a:rPr lang="en-US"/>
          <a:t>Good idea to adjust speed depending on the distance to target. To simplify the development: 
1. multi-level speed/power output
- At certain target distance threshold switch to different speed/power levels</a:t>
        </a:r>
      </a:p>
    </p188:txBody>
  </p188:cm>
  <p188:cm id="{A18405A3-D174-4ECE-9B8F-090FCC4221E5}" authorId="{466FD7CB-885E-7DEF-6248-0EDB397AB587}" created="2026-06-27T03:57:14.171">
    <ac:txMkLst xmlns:ac="http://schemas.microsoft.com/office/drawing/2013/main/command">
      <pc:docMk xmlns:pc="http://schemas.microsoft.com/office/powerpoint/2013/main/command"/>
      <pc:sldMk xmlns:pc="http://schemas.microsoft.com/office/powerpoint/2013/main/command" cId="0" sldId="262"/>
      <ac:spMk id="3" creationId="{00000000-0000-0000-0000-000000000000}"/>
      <ac:txMk cp="211" len="221">
        <ac:context len="631" hash="3328507727"/>
      </ac:txMk>
    </ac:txMkLst>
    <p188:pos x="10518202" y="1515280"/>
    <p188:txBody>
      <a:bodyPr/>
      <a:lstStyle/>
      <a:p>
        <a:r>
          <a:rPr lang="en-US"/>
          <a:t>Skip error handling at this moment.
The sensor output value should be trusted
If we don’t trust the sensor’s output, it’s meaningless to use sensors.
This consideration has low priority at this moment.</a:t>
        </a:r>
      </a:p>
    </p188:txBody>
  </p188:cm>
  <p188:cm id="{E3601253-2994-49EE-880E-57621D1E4678}" authorId="{466FD7CB-885E-7DEF-6248-0EDB397AB587}" created="2026-06-27T03:58:51.667">
    <ac:txMkLst xmlns:ac="http://schemas.microsoft.com/office/drawing/2013/main/command">
      <pc:docMk xmlns:pc="http://schemas.microsoft.com/office/powerpoint/2013/main/command"/>
      <pc:sldMk xmlns:pc="http://schemas.microsoft.com/office/powerpoint/2013/main/command" cId="0" sldId="262"/>
      <ac:spMk id="3" creationId="{00000000-0000-0000-0000-000000000000}"/>
      <ac:txMk cp="433" len="197">
        <ac:context len="631" hash="3328507727"/>
      </ac:txMk>
    </ac:txMkLst>
    <p188:pos x="10188126" y="3005083"/>
    <p188:txBody>
      <a:bodyPr/>
      <a:lstStyle/>
      <a:p>
        <a:r>
          <a:rPr lang="en-US"/>
          <a:t>Error and over shoot must be handled based on sensor output value. Slowing down when approaching the target value is a good idea.</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5" Type="http://schemas.openxmlformats.org/officeDocument/2006/relationships/tags" Target="../tags/tag5.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2_0.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06_0.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8.xml"/><Relationship Id="rId7" Type="http://schemas.microsoft.com/office/2018/10/relationships/comments" Target="../comments/modernComment_104_0.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slideLayout" Target="../slideLayouts/slideLayout2.xml"/><Relationship Id="rId5" Type="http://schemas.openxmlformats.org/officeDocument/2006/relationships/tags" Target="../tags/tag10.xml"/><Relationship Id="rId4" Type="http://schemas.openxmlformats.org/officeDocument/2006/relationships/tags" Target="../tags/tag9.xml"/></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3.xml"/><Relationship Id="rId7" Type="http://schemas.microsoft.com/office/2018/10/relationships/comments" Target="../comments/modernComment_105_0.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slideLayout" Target="../slideLayouts/slideLayout2.xml"/><Relationship Id="rId5" Type="http://schemas.openxmlformats.org/officeDocument/2006/relationships/tags" Target="../tags/tag15.xml"/><Relationship Id="rId4"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a:t>arduino upgrade</a:t>
            </a:r>
            <a:br>
              <a:rPr lang="en-US" altLang="zh-CN"/>
            </a:br>
            <a:endParaRPr lang="en-US" altLang="zh-CN"/>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13080" y="577850"/>
            <a:ext cx="1369695" cy="368300"/>
          </a:xfrm>
          <a:prstGeom prst="rect">
            <a:avLst/>
          </a:prstGeom>
          <a:noFill/>
        </p:spPr>
        <p:txBody>
          <a:bodyPr wrap="square" rtlCol="0">
            <a:spAutoFit/>
          </a:bodyPr>
          <a:lstStyle/>
          <a:p>
            <a:r>
              <a:rPr lang="en-US" altLang="zh-CN"/>
              <a:t>API</a:t>
            </a:r>
          </a:p>
        </p:txBody>
      </p:sp>
      <p:sp>
        <p:nvSpPr>
          <p:cNvPr id="5" name="文本框 4"/>
          <p:cNvSpPr txBox="1"/>
          <p:nvPr>
            <p:custDataLst>
              <p:tags r:id="rId1"/>
            </p:custDataLst>
          </p:nvPr>
        </p:nvSpPr>
        <p:spPr>
          <a:xfrm>
            <a:off x="513080" y="1114425"/>
            <a:ext cx="1213485" cy="576580"/>
          </a:xfrm>
          <a:prstGeom prst="rect">
            <a:avLst/>
          </a:prstGeom>
        </p:spPr>
        <p:style>
          <a:lnRef idx="0">
            <a:srgbClr val="FFFFFF"/>
          </a:lnRef>
          <a:fillRef idx="1">
            <a:schemeClr val="accent5"/>
          </a:fillRef>
          <a:effectRef idx="0">
            <a:srgbClr val="FFFFFF"/>
          </a:effectRef>
          <a:fontRef idx="minor">
            <a:schemeClr val="lt1"/>
          </a:fontRef>
        </p:style>
        <p:txBody>
          <a:bodyPr wrap="square" rtlCol="0">
            <a:noAutofit/>
          </a:bodyPr>
          <a:lstStyle/>
          <a:p>
            <a:r>
              <a:rPr lang="en-US" altLang="zh-CN"/>
              <a:t>Port 7500</a:t>
            </a:r>
          </a:p>
          <a:p>
            <a:endParaRPr lang="en-US" altLang="zh-CN"/>
          </a:p>
        </p:txBody>
      </p:sp>
      <p:sp>
        <p:nvSpPr>
          <p:cNvPr id="6" name="文本框 5"/>
          <p:cNvSpPr txBox="1"/>
          <p:nvPr>
            <p:custDataLst>
              <p:tags r:id="rId2"/>
            </p:custDataLst>
          </p:nvPr>
        </p:nvSpPr>
        <p:spPr>
          <a:xfrm>
            <a:off x="669925" y="3930650"/>
            <a:ext cx="1213485" cy="576580"/>
          </a:xfrm>
          <a:prstGeom prst="rect">
            <a:avLst/>
          </a:prstGeom>
          <a:solidFill>
            <a:schemeClr val="accent2">
              <a:lumMod val="40000"/>
              <a:lumOff val="60000"/>
            </a:schemeClr>
          </a:solidFill>
          <a:ln>
            <a:solidFill>
              <a:schemeClr val="accent2">
                <a:lumMod val="40000"/>
                <a:lumOff val="60000"/>
              </a:schemeClr>
            </a:solidFill>
          </a:ln>
        </p:spPr>
        <p:style>
          <a:lnRef idx="0">
            <a:srgbClr val="FFFFFF"/>
          </a:lnRef>
          <a:fillRef idx="1">
            <a:schemeClr val="accent5"/>
          </a:fillRef>
          <a:effectRef idx="0">
            <a:srgbClr val="FFFFFF"/>
          </a:effectRef>
          <a:fontRef idx="minor">
            <a:schemeClr val="lt1"/>
          </a:fontRef>
        </p:style>
        <p:txBody>
          <a:bodyPr wrap="square" rtlCol="0">
            <a:noAutofit/>
          </a:bodyPr>
          <a:lstStyle/>
          <a:p>
            <a:r>
              <a:rPr lang="en-US" altLang="zh-CN"/>
              <a:t>Node 0</a:t>
            </a:r>
          </a:p>
        </p:txBody>
      </p:sp>
      <p:sp>
        <p:nvSpPr>
          <p:cNvPr id="7" name="文本框 6"/>
          <p:cNvSpPr txBox="1"/>
          <p:nvPr>
            <p:custDataLst>
              <p:tags r:id="rId3"/>
            </p:custDataLst>
          </p:nvPr>
        </p:nvSpPr>
        <p:spPr>
          <a:xfrm>
            <a:off x="532130" y="3562350"/>
            <a:ext cx="1704340" cy="368300"/>
          </a:xfrm>
          <a:prstGeom prst="rect">
            <a:avLst/>
          </a:prstGeom>
          <a:noFill/>
        </p:spPr>
        <p:txBody>
          <a:bodyPr wrap="square" rtlCol="0">
            <a:spAutoFit/>
          </a:bodyPr>
          <a:lstStyle/>
          <a:p>
            <a:r>
              <a:rPr lang="en-US" altLang="zh-CN"/>
              <a:t>Arduino node</a:t>
            </a:r>
          </a:p>
        </p:txBody>
      </p:sp>
      <p:sp>
        <p:nvSpPr>
          <p:cNvPr id="8" name="文本框 7"/>
          <p:cNvSpPr txBox="1"/>
          <p:nvPr>
            <p:custDataLst>
              <p:tags r:id="rId4"/>
            </p:custDataLst>
          </p:nvPr>
        </p:nvSpPr>
        <p:spPr>
          <a:xfrm>
            <a:off x="620395" y="5697855"/>
            <a:ext cx="1312545" cy="776605"/>
          </a:xfrm>
          <a:prstGeom prst="rect">
            <a:avLst/>
          </a:prstGeom>
          <a:solidFill>
            <a:schemeClr val="accent6">
              <a:lumMod val="40000"/>
              <a:lumOff val="60000"/>
            </a:schemeClr>
          </a:solidFill>
          <a:ln>
            <a:solidFill>
              <a:schemeClr val="accent2">
                <a:lumMod val="40000"/>
                <a:lumOff val="60000"/>
              </a:schemeClr>
            </a:solidFill>
          </a:ln>
        </p:spPr>
        <p:style>
          <a:lnRef idx="0">
            <a:srgbClr val="FFFFFF"/>
          </a:lnRef>
          <a:fillRef idx="1">
            <a:schemeClr val="accent5"/>
          </a:fillRef>
          <a:effectRef idx="0">
            <a:srgbClr val="FFFFFF"/>
          </a:effectRef>
          <a:fontRef idx="minor">
            <a:schemeClr val="lt1"/>
          </a:fontRef>
        </p:style>
        <p:txBody>
          <a:bodyPr wrap="square" rtlCol="0">
            <a:noAutofit/>
          </a:bodyPr>
          <a:lstStyle/>
          <a:p>
            <a:r>
              <a:rPr lang="en-US" altLang="zh-CN"/>
              <a:t>4 Actuator &amp; 4 Sensors</a:t>
            </a:r>
          </a:p>
        </p:txBody>
      </p:sp>
      <p:sp>
        <p:nvSpPr>
          <p:cNvPr id="9" name="文本框 8"/>
          <p:cNvSpPr txBox="1"/>
          <p:nvPr>
            <p:custDataLst>
              <p:tags r:id="rId5"/>
            </p:custDataLst>
          </p:nvPr>
        </p:nvSpPr>
        <p:spPr>
          <a:xfrm>
            <a:off x="482600" y="5329555"/>
            <a:ext cx="1704340" cy="368300"/>
          </a:xfrm>
          <a:prstGeom prst="rect">
            <a:avLst/>
          </a:prstGeom>
          <a:noFill/>
        </p:spPr>
        <p:txBody>
          <a:bodyPr wrap="square" rtlCol="0">
            <a:spAutoFit/>
          </a:bodyPr>
          <a:lstStyle/>
          <a:p>
            <a:r>
              <a:rPr lang="en-US" altLang="zh-CN"/>
              <a:t>Actuator</a:t>
            </a:r>
          </a:p>
        </p:txBody>
      </p:sp>
      <p:sp>
        <p:nvSpPr>
          <p:cNvPr id="10" name="下箭头 9"/>
          <p:cNvSpPr/>
          <p:nvPr/>
        </p:nvSpPr>
        <p:spPr>
          <a:xfrm>
            <a:off x="704215" y="1987550"/>
            <a:ext cx="176530" cy="1501775"/>
          </a:xfrm>
          <a:prstGeom prst="down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上箭头 10"/>
          <p:cNvSpPr/>
          <p:nvPr/>
        </p:nvSpPr>
        <p:spPr>
          <a:xfrm>
            <a:off x="1424940" y="2002790"/>
            <a:ext cx="168275" cy="1433195"/>
          </a:xfrm>
          <a:prstGeom prst="up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下箭头 11"/>
          <p:cNvSpPr/>
          <p:nvPr/>
        </p:nvSpPr>
        <p:spPr>
          <a:xfrm>
            <a:off x="1056640" y="4646930"/>
            <a:ext cx="544195" cy="659130"/>
          </a:xfrm>
          <a:prstGeom prst="down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文本框 12"/>
          <p:cNvSpPr txBox="1"/>
          <p:nvPr/>
        </p:nvSpPr>
        <p:spPr>
          <a:xfrm>
            <a:off x="0" y="2534285"/>
            <a:ext cx="892175" cy="369570"/>
          </a:xfrm>
          <a:prstGeom prst="rect">
            <a:avLst/>
          </a:prstGeom>
          <a:noFill/>
        </p:spPr>
        <p:txBody>
          <a:bodyPr wrap="square" rtlCol="0">
            <a:noAutofit/>
          </a:bodyPr>
          <a:lstStyle/>
          <a:p>
            <a:r>
              <a:rPr lang="en-US" altLang="zh-CN"/>
              <a:t>target</a:t>
            </a:r>
          </a:p>
          <a:p>
            <a:endParaRPr lang="en-US" altLang="zh-CN"/>
          </a:p>
        </p:txBody>
      </p:sp>
      <p:sp>
        <p:nvSpPr>
          <p:cNvPr id="14" name="文本框 13"/>
          <p:cNvSpPr txBox="1"/>
          <p:nvPr/>
        </p:nvSpPr>
        <p:spPr>
          <a:xfrm>
            <a:off x="1646555" y="2534285"/>
            <a:ext cx="991870" cy="375285"/>
          </a:xfrm>
          <a:prstGeom prst="rect">
            <a:avLst/>
          </a:prstGeom>
          <a:noFill/>
        </p:spPr>
        <p:txBody>
          <a:bodyPr wrap="square" rtlCol="0">
            <a:noAutofit/>
          </a:bodyPr>
          <a:lstStyle/>
          <a:p>
            <a:r>
              <a:rPr lang="en-US" altLang="zh-CN"/>
              <a:t>report</a:t>
            </a:r>
          </a:p>
        </p:txBody>
      </p:sp>
      <p:sp>
        <p:nvSpPr>
          <p:cNvPr id="15" name="文本框 14"/>
          <p:cNvSpPr txBox="1"/>
          <p:nvPr/>
        </p:nvSpPr>
        <p:spPr>
          <a:xfrm>
            <a:off x="3784600" y="139065"/>
            <a:ext cx="4064000" cy="706755"/>
          </a:xfrm>
          <a:prstGeom prst="rect">
            <a:avLst/>
          </a:prstGeom>
          <a:noFill/>
        </p:spPr>
        <p:txBody>
          <a:bodyPr wrap="square" rtlCol="0">
            <a:spAutoFit/>
          </a:bodyPr>
          <a:lstStyle/>
          <a:p>
            <a:r>
              <a:rPr lang="en-US" altLang="zh-CN" sz="4000"/>
              <a:t>NOW</a:t>
            </a:r>
          </a:p>
        </p:txBody>
      </p:sp>
      <p:sp>
        <p:nvSpPr>
          <p:cNvPr id="16" name="文本框 15"/>
          <p:cNvSpPr txBox="1"/>
          <p:nvPr/>
        </p:nvSpPr>
        <p:spPr>
          <a:xfrm>
            <a:off x="3026410" y="2360930"/>
            <a:ext cx="3528060" cy="3138170"/>
          </a:xfrm>
          <a:prstGeom prst="rect">
            <a:avLst/>
          </a:prstGeom>
          <a:noFill/>
        </p:spPr>
        <p:txBody>
          <a:bodyPr wrap="square" rtlCol="0">
            <a:spAutoFit/>
          </a:bodyPr>
          <a:lstStyle/>
          <a:p>
            <a:pPr marL="342900" indent="-342900">
              <a:buAutoNum type="arabicPeriod"/>
            </a:pPr>
            <a:r>
              <a:rPr lang="en-US" altLang="zh-CN"/>
              <a:t>Check whether the computer has sent any new serial commands.</a:t>
            </a:r>
          </a:p>
          <a:p>
            <a:pPr marL="342900" indent="-342900">
              <a:buAutoNum type="arabicPeriod"/>
            </a:pPr>
            <a:endParaRPr lang="en-US" altLang="zh-CN"/>
          </a:p>
          <a:p>
            <a:pPr marL="342900" indent="-342900">
              <a:buAutoNum type="arabicPeriod"/>
            </a:pPr>
            <a:endParaRPr lang="en-US" altLang="zh-CN"/>
          </a:p>
          <a:p>
            <a:pPr marL="342900" indent="-342900">
              <a:buAutoNum type="arabicPeriod"/>
            </a:pPr>
            <a:r>
              <a:rPr lang="en-US" altLang="zh-CN"/>
              <a:t>Read the sensors and control the motor every 100 ms.</a:t>
            </a:r>
          </a:p>
          <a:p>
            <a:pPr marL="342900" indent="-342900">
              <a:buAutoNum type="arabicPeriod"/>
            </a:pPr>
            <a:endParaRPr lang="en-US" altLang="zh-CN"/>
          </a:p>
          <a:p>
            <a:pPr marL="342900" indent="-342900">
              <a:buAutoNum type="arabicPeriod"/>
            </a:pPr>
            <a:endParaRPr lang="en-US" altLang="zh-CN"/>
          </a:p>
          <a:p>
            <a:pPr marL="342900" indent="-342900">
              <a:buAutoNum type="arabicPeriod"/>
            </a:pPr>
            <a:r>
              <a:rPr lang="en-US" altLang="zh-CN"/>
              <a:t>Send status data to Python every 1000 ms.</a:t>
            </a:r>
          </a:p>
        </p:txBody>
      </p:sp>
      <p:sp>
        <p:nvSpPr>
          <p:cNvPr id="17" name="左大括号 16"/>
          <p:cNvSpPr/>
          <p:nvPr/>
        </p:nvSpPr>
        <p:spPr>
          <a:xfrm>
            <a:off x="2186940" y="2264410"/>
            <a:ext cx="1118870" cy="3326130"/>
          </a:xfrm>
          <a:prstGeom prst="leftBrace">
            <a:avLst>
              <a:gd name="adj1" fmla="val 8333"/>
              <a:gd name="adj2" fmla="val 56987"/>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8" name="文本框 17"/>
          <p:cNvSpPr txBox="1"/>
          <p:nvPr/>
        </p:nvSpPr>
        <p:spPr>
          <a:xfrm>
            <a:off x="7122160" y="3006090"/>
            <a:ext cx="4866640" cy="2306955"/>
          </a:xfrm>
          <a:prstGeom prst="rect">
            <a:avLst/>
          </a:prstGeom>
          <a:noFill/>
        </p:spPr>
        <p:txBody>
          <a:bodyPr wrap="square" rtlCol="0">
            <a:spAutoFit/>
          </a:bodyPr>
          <a:lstStyle/>
          <a:p>
            <a:pPr indent="0">
              <a:buNone/>
            </a:pPr>
            <a:r>
              <a:rPr lang="en-US" altLang="zh-CN"/>
              <a:t>const int DEFAULT_TARGET = 50;</a:t>
            </a:r>
          </a:p>
          <a:p>
            <a:pPr indent="0">
              <a:buNone/>
            </a:pPr>
            <a:r>
              <a:rPr lang="en-US" altLang="zh-CN"/>
              <a:t>const int TARGET_DEADBAND = 10;</a:t>
            </a:r>
          </a:p>
          <a:p>
            <a:pPr indent="0">
              <a:buNone/>
            </a:pPr>
            <a:r>
              <a:rPr lang="en-US" altLang="zh-CN"/>
              <a:t>const int DRIVE_PWM = 70;</a:t>
            </a:r>
          </a:p>
          <a:p>
            <a:pPr indent="0">
              <a:buNone/>
            </a:pPr>
            <a:r>
              <a:rPr lang="en-US" altLang="zh-CN"/>
              <a:t>const int MEDIAN_SAMPLES = 7;</a:t>
            </a:r>
          </a:p>
          <a:p>
            <a:pPr indent="0">
              <a:buNone/>
            </a:pPr>
            <a:endParaRPr lang="en-US" altLang="zh-CN"/>
          </a:p>
          <a:p>
            <a:pPr indent="0">
              <a:buNone/>
            </a:pPr>
            <a:r>
              <a:rPr lang="en-US" altLang="zh-CN"/>
              <a:t>const unsigned long SAMPLE_INTERVAL_MS = 100;</a:t>
            </a:r>
          </a:p>
          <a:p>
            <a:pPr indent="0">
              <a:buNone/>
            </a:pPr>
            <a:r>
              <a:rPr lang="en-US" altLang="zh-CN"/>
              <a:t>const unsigned long TELEMETRY_INTERVAL_MS = 1000;</a:t>
            </a:r>
          </a:p>
        </p:txBody>
      </p:sp>
      <p:sp>
        <p:nvSpPr>
          <p:cNvPr id="19" name="左大括号 18"/>
          <p:cNvSpPr/>
          <p:nvPr/>
        </p:nvSpPr>
        <p:spPr>
          <a:xfrm>
            <a:off x="6245225" y="2885440"/>
            <a:ext cx="1393825" cy="2812415"/>
          </a:xfrm>
          <a:prstGeom prst="leftBrace">
            <a:avLst>
              <a:gd name="adj1" fmla="val 8333"/>
              <a:gd name="adj2" fmla="val 41386"/>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2" name="文本框 21"/>
          <p:cNvSpPr txBox="1"/>
          <p:nvPr/>
        </p:nvSpPr>
        <p:spPr>
          <a:xfrm>
            <a:off x="7325360" y="1198245"/>
            <a:ext cx="4064000" cy="1014730"/>
          </a:xfrm>
          <a:prstGeom prst="rect">
            <a:avLst/>
          </a:prstGeom>
          <a:solidFill>
            <a:schemeClr val="accent1">
              <a:lumMod val="20000"/>
              <a:lumOff val="80000"/>
            </a:schemeClr>
          </a:solidFill>
        </p:spPr>
        <p:txBody>
          <a:bodyPr wrap="square" rtlCol="0">
            <a:spAutoFit/>
          </a:bodyPr>
          <a:lstStyle/>
          <a:p>
            <a:r>
              <a:rPr lang="en-US" altLang="zh-CN" sz="2000">
                <a:latin typeface="Bahnschrift Light" panose="020B0502040204020203" charset="0"/>
                <a:cs typeface="Bahnschrift Light" panose="020B0502040204020203" charset="0"/>
              </a:rPr>
              <a:t>Closed-loop control is mainly achieved using a lower motion speed and a wider deadband.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Limitations of the current control method:</a:t>
            </a:r>
            <a:endParaRPr lang="zh-CN" altLang="en-US" dirty="0"/>
          </a:p>
        </p:txBody>
      </p:sp>
      <p:sp>
        <p:nvSpPr>
          <p:cNvPr id="3" name="内容占位符 2"/>
          <p:cNvSpPr>
            <a:spLocks noGrp="1"/>
          </p:cNvSpPr>
          <p:nvPr>
            <p:ph idx="1"/>
          </p:nvPr>
        </p:nvSpPr>
        <p:spPr/>
        <p:txBody>
          <a:bodyPr>
            <a:normAutofit fontScale="92500"/>
          </a:bodyPr>
          <a:lstStyle/>
          <a:p>
            <a:endParaRPr lang="en-US" altLang="zh-CN" dirty="0"/>
          </a:p>
          <a:p>
            <a:pPr marL="514350" indent="-514350">
              <a:buAutoNum type="arabicPeriod"/>
            </a:pPr>
            <a:r>
              <a:rPr lang="en-US" altLang="zh-CN" dirty="0"/>
              <a:t>Using a low speed and a large deadband can achieve closed-loop control and prevent oscillation, but it increases the motion completion time and provides insufficient positioning accuracy. A PID control algorithm could be added to improve the system.</a:t>
            </a:r>
          </a:p>
          <a:p>
            <a:pPr marL="514350" indent="-514350">
              <a:buAutoNum type="arabicPeriod"/>
            </a:pPr>
            <a:r>
              <a:rPr lang="en-US" altLang="zh-CN" dirty="0"/>
              <a:t>Automatically executing a motion to a target position of 50 immediately after power-up may present a safety risk. It is recommended that this motion be performed only after an initialization command is received.</a:t>
            </a:r>
          </a:p>
          <a:p>
            <a:pPr marL="514350" indent="-514350">
              <a:buAutoNum type="arabicPeriod"/>
            </a:pPr>
            <a:r>
              <a:rPr lang="en-US" altLang="zh-CN" dirty="0"/>
              <a:t>The relationship between the cable-pull sensor output and the actual length needs to be recalibrated to ensure that it is linear and accurate.</a:t>
            </a:r>
          </a:p>
        </p:txBody>
      </p:sp>
      <p:sp>
        <p:nvSpPr>
          <p:cNvPr id="5" name="Circle: Hollow 4">
            <a:extLst>
              <a:ext uri="{FF2B5EF4-FFF2-40B4-BE49-F238E27FC236}">
                <a16:creationId xmlns:a16="http://schemas.microsoft.com/office/drawing/2014/main" id="{2642DB11-1F54-16AC-70FA-0BC635327498}"/>
              </a:ext>
            </a:extLst>
          </p:cNvPr>
          <p:cNvSpPr/>
          <p:nvPr/>
        </p:nvSpPr>
        <p:spPr>
          <a:xfrm>
            <a:off x="202210" y="3766510"/>
            <a:ext cx="569084" cy="569084"/>
          </a:xfrm>
          <a:prstGeom prst="donut">
            <a:avLst>
              <a:gd name="adj" fmla="val 364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quot;Not Allowed&quot; Symbol 5">
            <a:extLst>
              <a:ext uri="{FF2B5EF4-FFF2-40B4-BE49-F238E27FC236}">
                <a16:creationId xmlns:a16="http://schemas.microsoft.com/office/drawing/2014/main" id="{04B69282-E056-5EC8-AD4A-C83EDC952E5B}"/>
              </a:ext>
            </a:extLst>
          </p:cNvPr>
          <p:cNvSpPr/>
          <p:nvPr/>
        </p:nvSpPr>
        <p:spPr>
          <a:xfrm>
            <a:off x="237893" y="5055591"/>
            <a:ext cx="569084" cy="569084"/>
          </a:xfrm>
          <a:prstGeom prst="noSmoking">
            <a:avLst>
              <a:gd name="adj" fmla="val 426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ircle: Hollow 7">
            <a:extLst>
              <a:ext uri="{FF2B5EF4-FFF2-40B4-BE49-F238E27FC236}">
                <a16:creationId xmlns:a16="http://schemas.microsoft.com/office/drawing/2014/main" id="{EBDB70E7-33EF-AAA5-3E0D-DB62D14CA15D}"/>
              </a:ext>
            </a:extLst>
          </p:cNvPr>
          <p:cNvSpPr/>
          <p:nvPr/>
        </p:nvSpPr>
        <p:spPr>
          <a:xfrm>
            <a:off x="235663" y="2255148"/>
            <a:ext cx="569084" cy="569084"/>
          </a:xfrm>
          <a:prstGeom prst="donut">
            <a:avLst>
              <a:gd name="adj" fmla="val 364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PID</a:t>
            </a:r>
          </a:p>
        </p:txBody>
      </p:sp>
      <p:sp>
        <p:nvSpPr>
          <p:cNvPr id="3" name="内容占位符 2"/>
          <p:cNvSpPr>
            <a:spLocks noGrp="1"/>
          </p:cNvSpPr>
          <p:nvPr>
            <p:ph idx="1"/>
          </p:nvPr>
        </p:nvSpPr>
        <p:spPr/>
        <p:txBody>
          <a:bodyPr>
            <a:normAutofit lnSpcReduction="10000"/>
          </a:bodyPr>
          <a:lstStyle/>
          <a:p>
            <a:r>
              <a:rPr lang="en-US" altLang="zh-CN" dirty="0"/>
              <a:t>Proportional term (P) responds to the current error. The larger the difference between the target and the current position, the stronger the control output. </a:t>
            </a:r>
            <a:r>
              <a:rPr lang="en-US" altLang="zh-CN" u="sng" dirty="0"/>
              <a:t>It helps the actuator</a:t>
            </a:r>
            <a:r>
              <a:rPr lang="en-US" altLang="zh-CN" u="sng" dirty="0">
                <a:solidFill>
                  <a:schemeClr val="accent6">
                    <a:lumMod val="75000"/>
                  </a:schemeClr>
                </a:solidFill>
              </a:rPr>
              <a:t> move quickly </a:t>
            </a:r>
            <a:r>
              <a:rPr lang="en-US" altLang="zh-CN" u="sng" dirty="0"/>
              <a:t>toward the target.</a:t>
            </a:r>
          </a:p>
          <a:p>
            <a:r>
              <a:rPr lang="en-US" altLang="zh-CN" dirty="0"/>
              <a:t>Integral term (I) responds to accumulated error over time. It is used to </a:t>
            </a:r>
            <a:r>
              <a:rPr lang="en-US" altLang="zh-CN" u="sng" dirty="0">
                <a:solidFill>
                  <a:schemeClr val="accent6">
                    <a:lumMod val="75000"/>
                  </a:schemeClr>
                </a:solidFill>
              </a:rPr>
              <a:t>eliminate small remaining errors</a:t>
            </a:r>
            <a:r>
              <a:rPr lang="en-US" altLang="zh-CN" dirty="0"/>
              <a:t> that the proportional term alone cannot remove. However, if it is too large, it can cause overshoot or oscillation.</a:t>
            </a:r>
          </a:p>
          <a:p>
            <a:r>
              <a:rPr lang="en-US" altLang="zh-CN" dirty="0"/>
              <a:t>Derivative term (D) responds to how quickly the error is changing. It helps the system slow down when the actuator is approaching the target too quickly, </a:t>
            </a:r>
            <a:r>
              <a:rPr lang="en-US" altLang="zh-CN" u="sng" dirty="0">
                <a:solidFill>
                  <a:schemeClr val="accent6">
                    <a:lumMod val="75000"/>
                  </a:schemeClr>
                </a:solidFill>
              </a:rPr>
              <a:t>reducing overshoot</a:t>
            </a:r>
            <a:r>
              <a:rPr lang="en-US" altLang="zh-CN" u="sng" dirty="0"/>
              <a:t> and improving stability.</a:t>
            </a:r>
          </a:p>
        </p:txBody>
      </p:sp>
      <p:sp>
        <p:nvSpPr>
          <p:cNvPr id="5" name="Circle: Hollow 4">
            <a:extLst>
              <a:ext uri="{FF2B5EF4-FFF2-40B4-BE49-F238E27FC236}">
                <a16:creationId xmlns:a16="http://schemas.microsoft.com/office/drawing/2014/main" id="{DEB9DEC7-6815-E551-9B42-6F72DC6F5A91}"/>
              </a:ext>
            </a:extLst>
          </p:cNvPr>
          <p:cNvSpPr/>
          <p:nvPr/>
        </p:nvSpPr>
        <p:spPr>
          <a:xfrm>
            <a:off x="202210" y="1781593"/>
            <a:ext cx="569084" cy="569084"/>
          </a:xfrm>
          <a:prstGeom prst="donut">
            <a:avLst>
              <a:gd name="adj" fmla="val 364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quot;Not Allowed&quot; Symbol 6">
            <a:extLst>
              <a:ext uri="{FF2B5EF4-FFF2-40B4-BE49-F238E27FC236}">
                <a16:creationId xmlns:a16="http://schemas.microsoft.com/office/drawing/2014/main" id="{39A7CA81-121D-53B6-132B-81ECFF42D59D}"/>
              </a:ext>
            </a:extLst>
          </p:cNvPr>
          <p:cNvSpPr/>
          <p:nvPr/>
        </p:nvSpPr>
        <p:spPr>
          <a:xfrm>
            <a:off x="237893" y="3070674"/>
            <a:ext cx="569084" cy="569084"/>
          </a:xfrm>
          <a:prstGeom prst="noSmoking">
            <a:avLst>
              <a:gd name="adj" fmla="val 426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ircle: Hollow 8">
            <a:extLst>
              <a:ext uri="{FF2B5EF4-FFF2-40B4-BE49-F238E27FC236}">
                <a16:creationId xmlns:a16="http://schemas.microsoft.com/office/drawing/2014/main" id="{C5EF08CE-EE0A-C4BA-144E-937501944F5D}"/>
              </a:ext>
            </a:extLst>
          </p:cNvPr>
          <p:cNvSpPr/>
          <p:nvPr/>
        </p:nvSpPr>
        <p:spPr>
          <a:xfrm>
            <a:off x="235663" y="4677193"/>
            <a:ext cx="569084" cy="569084"/>
          </a:xfrm>
          <a:prstGeom prst="donut">
            <a:avLst>
              <a:gd name="adj" fmla="val 364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13080" y="577850"/>
            <a:ext cx="1369695" cy="368300"/>
          </a:xfrm>
          <a:prstGeom prst="rect">
            <a:avLst/>
          </a:prstGeom>
          <a:noFill/>
        </p:spPr>
        <p:txBody>
          <a:bodyPr wrap="square" rtlCol="0">
            <a:spAutoFit/>
          </a:bodyPr>
          <a:lstStyle/>
          <a:p>
            <a:r>
              <a:rPr lang="en-US" altLang="zh-CN"/>
              <a:t>API</a:t>
            </a:r>
          </a:p>
        </p:txBody>
      </p:sp>
      <p:sp>
        <p:nvSpPr>
          <p:cNvPr id="5" name="文本框 4"/>
          <p:cNvSpPr txBox="1"/>
          <p:nvPr>
            <p:custDataLst>
              <p:tags r:id="rId1"/>
            </p:custDataLst>
          </p:nvPr>
        </p:nvSpPr>
        <p:spPr>
          <a:xfrm>
            <a:off x="513080" y="1114425"/>
            <a:ext cx="1213485" cy="576580"/>
          </a:xfrm>
          <a:prstGeom prst="rect">
            <a:avLst/>
          </a:prstGeom>
        </p:spPr>
        <p:style>
          <a:lnRef idx="0">
            <a:srgbClr val="FFFFFF"/>
          </a:lnRef>
          <a:fillRef idx="1">
            <a:schemeClr val="accent5"/>
          </a:fillRef>
          <a:effectRef idx="0">
            <a:srgbClr val="FFFFFF"/>
          </a:effectRef>
          <a:fontRef idx="minor">
            <a:schemeClr val="lt1"/>
          </a:fontRef>
        </p:style>
        <p:txBody>
          <a:bodyPr wrap="square" rtlCol="0">
            <a:noAutofit/>
          </a:bodyPr>
          <a:lstStyle/>
          <a:p>
            <a:r>
              <a:rPr lang="en-US" altLang="zh-CN"/>
              <a:t>Port 7500</a:t>
            </a:r>
          </a:p>
          <a:p>
            <a:endParaRPr lang="en-US" altLang="zh-CN"/>
          </a:p>
        </p:txBody>
      </p:sp>
      <p:sp>
        <p:nvSpPr>
          <p:cNvPr id="6" name="文本框 5"/>
          <p:cNvSpPr txBox="1"/>
          <p:nvPr>
            <p:custDataLst>
              <p:tags r:id="rId2"/>
            </p:custDataLst>
          </p:nvPr>
        </p:nvSpPr>
        <p:spPr>
          <a:xfrm>
            <a:off x="669925" y="3930650"/>
            <a:ext cx="1213485" cy="576580"/>
          </a:xfrm>
          <a:prstGeom prst="rect">
            <a:avLst/>
          </a:prstGeom>
          <a:solidFill>
            <a:schemeClr val="accent2">
              <a:lumMod val="40000"/>
              <a:lumOff val="60000"/>
            </a:schemeClr>
          </a:solidFill>
          <a:ln>
            <a:solidFill>
              <a:schemeClr val="accent2">
                <a:lumMod val="40000"/>
                <a:lumOff val="60000"/>
              </a:schemeClr>
            </a:solidFill>
          </a:ln>
        </p:spPr>
        <p:style>
          <a:lnRef idx="0">
            <a:srgbClr val="FFFFFF"/>
          </a:lnRef>
          <a:fillRef idx="1">
            <a:schemeClr val="accent5"/>
          </a:fillRef>
          <a:effectRef idx="0">
            <a:srgbClr val="FFFFFF"/>
          </a:effectRef>
          <a:fontRef idx="minor">
            <a:schemeClr val="lt1"/>
          </a:fontRef>
        </p:style>
        <p:txBody>
          <a:bodyPr wrap="square" rtlCol="0">
            <a:noAutofit/>
          </a:bodyPr>
          <a:lstStyle/>
          <a:p>
            <a:r>
              <a:rPr lang="en-US" altLang="zh-CN"/>
              <a:t>Node 0</a:t>
            </a:r>
          </a:p>
        </p:txBody>
      </p:sp>
      <p:sp>
        <p:nvSpPr>
          <p:cNvPr id="7" name="文本框 6"/>
          <p:cNvSpPr txBox="1"/>
          <p:nvPr>
            <p:custDataLst>
              <p:tags r:id="rId3"/>
            </p:custDataLst>
          </p:nvPr>
        </p:nvSpPr>
        <p:spPr>
          <a:xfrm>
            <a:off x="532130" y="3562350"/>
            <a:ext cx="1704340" cy="368300"/>
          </a:xfrm>
          <a:prstGeom prst="rect">
            <a:avLst/>
          </a:prstGeom>
          <a:noFill/>
        </p:spPr>
        <p:txBody>
          <a:bodyPr wrap="square" rtlCol="0">
            <a:spAutoFit/>
          </a:bodyPr>
          <a:lstStyle/>
          <a:p>
            <a:r>
              <a:rPr lang="en-US" altLang="zh-CN"/>
              <a:t>Arduino node</a:t>
            </a:r>
          </a:p>
        </p:txBody>
      </p:sp>
      <p:sp>
        <p:nvSpPr>
          <p:cNvPr id="8" name="文本框 7"/>
          <p:cNvSpPr txBox="1"/>
          <p:nvPr>
            <p:custDataLst>
              <p:tags r:id="rId4"/>
            </p:custDataLst>
          </p:nvPr>
        </p:nvSpPr>
        <p:spPr>
          <a:xfrm>
            <a:off x="620395" y="5697855"/>
            <a:ext cx="1312545" cy="776605"/>
          </a:xfrm>
          <a:prstGeom prst="rect">
            <a:avLst/>
          </a:prstGeom>
          <a:solidFill>
            <a:schemeClr val="accent6">
              <a:lumMod val="40000"/>
              <a:lumOff val="60000"/>
            </a:schemeClr>
          </a:solidFill>
          <a:ln>
            <a:solidFill>
              <a:schemeClr val="accent2">
                <a:lumMod val="40000"/>
                <a:lumOff val="60000"/>
              </a:schemeClr>
            </a:solidFill>
          </a:ln>
        </p:spPr>
        <p:style>
          <a:lnRef idx="0">
            <a:srgbClr val="FFFFFF"/>
          </a:lnRef>
          <a:fillRef idx="1">
            <a:schemeClr val="accent5"/>
          </a:fillRef>
          <a:effectRef idx="0">
            <a:srgbClr val="FFFFFF"/>
          </a:effectRef>
          <a:fontRef idx="minor">
            <a:schemeClr val="lt1"/>
          </a:fontRef>
        </p:style>
        <p:txBody>
          <a:bodyPr wrap="square" rtlCol="0">
            <a:noAutofit/>
          </a:bodyPr>
          <a:lstStyle/>
          <a:p>
            <a:r>
              <a:rPr lang="en-US" altLang="zh-CN"/>
              <a:t>4 Actuator &amp; 4 Sensors</a:t>
            </a:r>
          </a:p>
        </p:txBody>
      </p:sp>
      <p:sp>
        <p:nvSpPr>
          <p:cNvPr id="9" name="文本框 8"/>
          <p:cNvSpPr txBox="1"/>
          <p:nvPr>
            <p:custDataLst>
              <p:tags r:id="rId5"/>
            </p:custDataLst>
          </p:nvPr>
        </p:nvSpPr>
        <p:spPr>
          <a:xfrm>
            <a:off x="482600" y="5329555"/>
            <a:ext cx="1704340" cy="368300"/>
          </a:xfrm>
          <a:prstGeom prst="rect">
            <a:avLst/>
          </a:prstGeom>
          <a:noFill/>
        </p:spPr>
        <p:txBody>
          <a:bodyPr wrap="square" rtlCol="0">
            <a:spAutoFit/>
          </a:bodyPr>
          <a:lstStyle/>
          <a:p>
            <a:r>
              <a:rPr lang="en-US" altLang="zh-CN"/>
              <a:t>Actuator</a:t>
            </a:r>
          </a:p>
        </p:txBody>
      </p:sp>
      <p:sp>
        <p:nvSpPr>
          <p:cNvPr id="10" name="下箭头 9"/>
          <p:cNvSpPr/>
          <p:nvPr/>
        </p:nvSpPr>
        <p:spPr>
          <a:xfrm>
            <a:off x="704215" y="1987550"/>
            <a:ext cx="176530" cy="1501775"/>
          </a:xfrm>
          <a:prstGeom prst="down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上箭头 10"/>
          <p:cNvSpPr/>
          <p:nvPr/>
        </p:nvSpPr>
        <p:spPr>
          <a:xfrm>
            <a:off x="1424940" y="2002790"/>
            <a:ext cx="168275" cy="1433195"/>
          </a:xfrm>
          <a:prstGeom prst="up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下箭头 11"/>
          <p:cNvSpPr/>
          <p:nvPr/>
        </p:nvSpPr>
        <p:spPr>
          <a:xfrm>
            <a:off x="1056640" y="4646930"/>
            <a:ext cx="544195" cy="659130"/>
          </a:xfrm>
          <a:prstGeom prst="down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文本框 12"/>
          <p:cNvSpPr txBox="1"/>
          <p:nvPr/>
        </p:nvSpPr>
        <p:spPr>
          <a:xfrm>
            <a:off x="0" y="2534285"/>
            <a:ext cx="892175" cy="369570"/>
          </a:xfrm>
          <a:prstGeom prst="rect">
            <a:avLst/>
          </a:prstGeom>
          <a:noFill/>
        </p:spPr>
        <p:txBody>
          <a:bodyPr wrap="square" rtlCol="0">
            <a:noAutofit/>
          </a:bodyPr>
          <a:lstStyle/>
          <a:p>
            <a:r>
              <a:rPr lang="en-US" altLang="zh-CN"/>
              <a:t>target</a:t>
            </a:r>
          </a:p>
          <a:p>
            <a:endParaRPr lang="en-US" altLang="zh-CN"/>
          </a:p>
        </p:txBody>
      </p:sp>
      <p:sp>
        <p:nvSpPr>
          <p:cNvPr id="14" name="文本框 13"/>
          <p:cNvSpPr txBox="1"/>
          <p:nvPr/>
        </p:nvSpPr>
        <p:spPr>
          <a:xfrm>
            <a:off x="1646555" y="2534285"/>
            <a:ext cx="991870" cy="375285"/>
          </a:xfrm>
          <a:prstGeom prst="rect">
            <a:avLst/>
          </a:prstGeom>
          <a:noFill/>
        </p:spPr>
        <p:txBody>
          <a:bodyPr wrap="square" rtlCol="0">
            <a:noAutofit/>
          </a:bodyPr>
          <a:lstStyle/>
          <a:p>
            <a:r>
              <a:rPr lang="en-US" altLang="zh-CN"/>
              <a:t>report</a:t>
            </a:r>
          </a:p>
        </p:txBody>
      </p:sp>
      <p:sp>
        <p:nvSpPr>
          <p:cNvPr id="15" name="文本框 14"/>
          <p:cNvSpPr txBox="1"/>
          <p:nvPr/>
        </p:nvSpPr>
        <p:spPr>
          <a:xfrm>
            <a:off x="2688590" y="139065"/>
            <a:ext cx="5787390" cy="807720"/>
          </a:xfrm>
          <a:prstGeom prst="rect">
            <a:avLst/>
          </a:prstGeom>
          <a:noFill/>
        </p:spPr>
        <p:txBody>
          <a:bodyPr wrap="square" rtlCol="0">
            <a:noAutofit/>
          </a:bodyPr>
          <a:lstStyle/>
          <a:p>
            <a:r>
              <a:rPr lang="en-US" altLang="zh-CN" sz="4000"/>
              <a:t>Add a PID controller</a:t>
            </a:r>
          </a:p>
        </p:txBody>
      </p:sp>
      <p:sp>
        <p:nvSpPr>
          <p:cNvPr id="16" name="文本框 15"/>
          <p:cNvSpPr txBox="1"/>
          <p:nvPr/>
        </p:nvSpPr>
        <p:spPr>
          <a:xfrm>
            <a:off x="2489835" y="2360930"/>
            <a:ext cx="2225675" cy="3138170"/>
          </a:xfrm>
          <a:prstGeom prst="rect">
            <a:avLst/>
          </a:prstGeom>
          <a:noFill/>
        </p:spPr>
        <p:txBody>
          <a:bodyPr wrap="square" rtlCol="0">
            <a:spAutoFit/>
          </a:bodyPr>
          <a:lstStyle/>
          <a:p>
            <a:pPr marL="342900" indent="-342900">
              <a:buAutoNum type="arabicPeriod"/>
            </a:pPr>
            <a:r>
              <a:rPr lang="en-US" altLang="zh-CN"/>
              <a:t>Check whether the computer has sent any new serial commands.</a:t>
            </a:r>
          </a:p>
          <a:p>
            <a:pPr marL="342900" indent="-342900">
              <a:buAutoNum type="arabicPeriod"/>
            </a:pPr>
            <a:r>
              <a:rPr lang="en-US" altLang="zh-CN"/>
              <a:t>Read the sensors and </a:t>
            </a:r>
            <a:r>
              <a:rPr lang="en-US" altLang="zh-CN" u="sng">
                <a:solidFill>
                  <a:schemeClr val="accent6">
                    <a:lumMod val="75000"/>
                  </a:schemeClr>
                </a:solidFill>
              </a:rPr>
              <a:t>control the motor</a:t>
            </a:r>
            <a:r>
              <a:rPr lang="en-US" altLang="zh-CN"/>
              <a:t> every 100 ms.</a:t>
            </a:r>
          </a:p>
          <a:p>
            <a:pPr marL="342900" indent="-342900">
              <a:buAutoNum type="arabicPeriod"/>
            </a:pPr>
            <a:r>
              <a:rPr lang="en-US" altLang="zh-CN"/>
              <a:t>Send status data to Python every 1000 ms.</a:t>
            </a:r>
          </a:p>
        </p:txBody>
      </p:sp>
      <p:sp>
        <p:nvSpPr>
          <p:cNvPr id="17" name="左大括号 16"/>
          <p:cNvSpPr/>
          <p:nvPr/>
        </p:nvSpPr>
        <p:spPr>
          <a:xfrm>
            <a:off x="2056130" y="2264410"/>
            <a:ext cx="713105" cy="3326130"/>
          </a:xfrm>
          <a:prstGeom prst="leftBrace">
            <a:avLst>
              <a:gd name="adj1" fmla="val 8333"/>
              <a:gd name="adj2" fmla="val 56987"/>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9" name="左大括号 18"/>
          <p:cNvSpPr/>
          <p:nvPr/>
        </p:nvSpPr>
        <p:spPr>
          <a:xfrm>
            <a:off x="4715510" y="1369060"/>
            <a:ext cx="1654175" cy="5339715"/>
          </a:xfrm>
          <a:prstGeom prst="leftBrace">
            <a:avLst>
              <a:gd name="adj1" fmla="val 8333"/>
              <a:gd name="adj2" fmla="val 48364"/>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 name="文本框 1"/>
          <p:cNvSpPr txBox="1"/>
          <p:nvPr/>
        </p:nvSpPr>
        <p:spPr>
          <a:xfrm>
            <a:off x="5815965" y="2360930"/>
            <a:ext cx="4064000" cy="922020"/>
          </a:xfrm>
          <a:prstGeom prst="rect">
            <a:avLst/>
          </a:prstGeom>
          <a:noFill/>
        </p:spPr>
        <p:txBody>
          <a:bodyPr wrap="square" rtlCol="0">
            <a:spAutoFit/>
          </a:bodyPr>
          <a:lstStyle/>
          <a:p>
            <a:r>
              <a:rPr lang="en-US" altLang="zh-CN" dirty="0"/>
              <a:t>Step 2: Add Proportional(P) control—the farther the actuator is from the target position, the faster it moves.</a:t>
            </a:r>
          </a:p>
        </p:txBody>
      </p:sp>
      <p:sp>
        <p:nvSpPr>
          <p:cNvPr id="3" name="文本框 2"/>
          <p:cNvSpPr txBox="1"/>
          <p:nvPr/>
        </p:nvSpPr>
        <p:spPr>
          <a:xfrm>
            <a:off x="6191250" y="3317240"/>
            <a:ext cx="3313430" cy="1014730"/>
          </a:xfrm>
          <a:prstGeom prst="rect">
            <a:avLst/>
          </a:prstGeom>
          <a:noFill/>
        </p:spPr>
        <p:txBody>
          <a:bodyPr wrap="square" rtlCol="0">
            <a:spAutoFit/>
          </a:bodyPr>
          <a:lstStyle/>
          <a:p>
            <a:r>
              <a:rPr lang="en-US" altLang="zh-CN" sz="1200" dirty="0"/>
              <a:t>const int PWM_MIN = 60;</a:t>
            </a:r>
          </a:p>
          <a:p>
            <a:r>
              <a:rPr lang="en-US" altLang="zh-CN" sz="1200" dirty="0"/>
              <a:t>const int PWM_MAX = ???;</a:t>
            </a:r>
          </a:p>
          <a:p>
            <a:r>
              <a:rPr lang="en-US" altLang="zh-CN" sz="1200" dirty="0"/>
              <a:t>const float KP = 0.45;</a:t>
            </a:r>
          </a:p>
          <a:p>
            <a:endParaRPr lang="en-US" altLang="zh-CN" sz="1200" dirty="0"/>
          </a:p>
          <a:p>
            <a:r>
              <a:rPr lang="en-US" altLang="zh-CN" sz="1200" dirty="0"/>
              <a:t>int </a:t>
            </a:r>
            <a:r>
              <a:rPr lang="en-US" altLang="zh-CN" sz="1200" dirty="0" err="1"/>
              <a:t>pwm</a:t>
            </a:r>
            <a:r>
              <a:rPr lang="en-US" altLang="zh-CN" sz="1200" dirty="0"/>
              <a:t> = PWM_MIN + (int)(KP * </a:t>
            </a:r>
            <a:r>
              <a:rPr lang="en-US" altLang="zh-CN" sz="1200" dirty="0" err="1"/>
              <a:t>absoluteError</a:t>
            </a:r>
            <a:r>
              <a:rPr lang="en-US" altLang="zh-CN" sz="1200" dirty="0"/>
              <a:t>)</a:t>
            </a:r>
          </a:p>
        </p:txBody>
      </p:sp>
      <p:sp>
        <p:nvSpPr>
          <p:cNvPr id="20" name="文本框 19"/>
          <p:cNvSpPr txBox="1"/>
          <p:nvPr/>
        </p:nvSpPr>
        <p:spPr>
          <a:xfrm>
            <a:off x="5815965" y="1612265"/>
            <a:ext cx="5911215" cy="645160"/>
          </a:xfrm>
          <a:prstGeom prst="rect">
            <a:avLst/>
          </a:prstGeom>
          <a:noFill/>
        </p:spPr>
        <p:txBody>
          <a:bodyPr wrap="square" rtlCol="0">
            <a:spAutoFit/>
          </a:bodyPr>
          <a:lstStyle/>
          <a:p>
            <a:r>
              <a:rPr lang="en-US" altLang="zh-CN" dirty="0"/>
              <a:t>Step 1: Determine the maximum and minimum PWM values that can be reliably applied.</a:t>
            </a:r>
          </a:p>
        </p:txBody>
      </p:sp>
      <p:sp>
        <p:nvSpPr>
          <p:cNvPr id="21" name="文本框 20"/>
          <p:cNvSpPr txBox="1"/>
          <p:nvPr/>
        </p:nvSpPr>
        <p:spPr>
          <a:xfrm>
            <a:off x="9952355" y="3231515"/>
            <a:ext cx="2117090" cy="876300"/>
          </a:xfrm>
          <a:prstGeom prst="rect">
            <a:avLst/>
          </a:prstGeom>
          <a:noFill/>
        </p:spPr>
        <p:txBody>
          <a:bodyPr wrap="square" rtlCol="0">
            <a:noAutofit/>
          </a:bodyPr>
          <a:lstStyle/>
          <a:p>
            <a:r>
              <a:rPr lang="en-US" altLang="zh-CN" sz="1400"/>
              <a:t>The proportional gain (P value) needs to be determined through testing.</a:t>
            </a:r>
          </a:p>
        </p:txBody>
      </p:sp>
      <p:cxnSp>
        <p:nvCxnSpPr>
          <p:cNvPr id="24" name="直接箭头连接符 23"/>
          <p:cNvCxnSpPr/>
          <p:nvPr/>
        </p:nvCxnSpPr>
        <p:spPr>
          <a:xfrm flipH="1">
            <a:off x="7656195" y="3587750"/>
            <a:ext cx="2275840" cy="2457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5" name="文本框 24"/>
          <p:cNvSpPr txBox="1"/>
          <p:nvPr/>
        </p:nvSpPr>
        <p:spPr>
          <a:xfrm>
            <a:off x="5815965" y="4519930"/>
            <a:ext cx="6201410" cy="1198880"/>
          </a:xfrm>
          <a:prstGeom prst="rect">
            <a:avLst/>
          </a:prstGeom>
          <a:noFill/>
        </p:spPr>
        <p:txBody>
          <a:bodyPr wrap="square" rtlCol="0">
            <a:spAutoFit/>
          </a:bodyPr>
          <a:lstStyle/>
          <a:p>
            <a:r>
              <a:rPr lang="en-US" altLang="zh-CN" dirty="0"/>
              <a:t>Step 3: Add Derivative (D) control. When the actuator approaches the target rapidly, reduce the drive effort in advance to prevent overshoot.</a:t>
            </a:r>
          </a:p>
          <a:p>
            <a:endParaRPr lang="en-US" altLang="zh-CN" dirty="0"/>
          </a:p>
        </p:txBody>
      </p:sp>
      <p:pic>
        <p:nvPicPr>
          <p:cNvPr id="26" name="图片 25"/>
          <p:cNvPicPr>
            <a:picLocks noChangeAspect="1"/>
          </p:cNvPicPr>
          <p:nvPr/>
        </p:nvPicPr>
        <p:blipFill>
          <a:blip r:embed="rId8"/>
          <a:stretch>
            <a:fillRect/>
          </a:stretch>
        </p:blipFill>
        <p:spPr>
          <a:xfrm>
            <a:off x="5815965" y="5499100"/>
            <a:ext cx="2028825" cy="847725"/>
          </a:xfrm>
          <a:prstGeom prst="rect">
            <a:avLst/>
          </a:prstGeom>
        </p:spPr>
      </p:pic>
      <p:sp>
        <p:nvSpPr>
          <p:cNvPr id="28" name="文本框 27"/>
          <p:cNvSpPr txBox="1"/>
          <p:nvPr/>
        </p:nvSpPr>
        <p:spPr>
          <a:xfrm>
            <a:off x="7798435" y="5499100"/>
            <a:ext cx="4064000" cy="1168400"/>
          </a:xfrm>
          <a:prstGeom prst="rect">
            <a:avLst/>
          </a:prstGeom>
          <a:noFill/>
        </p:spPr>
        <p:txBody>
          <a:bodyPr wrap="square" rtlCol="0">
            <a:spAutoFit/>
          </a:bodyPr>
          <a:lstStyle/>
          <a:p>
            <a:r>
              <a:rPr lang="en-US" altLang="zh-CN" sz="1400">
                <a:sym typeface="+mn-ea"/>
              </a:rPr>
              <a:t>Derivative (D) control</a:t>
            </a:r>
            <a:r>
              <a:rPr lang="en-US" altLang="zh-CN" sz="1400"/>
              <a:t> is sensitive to sensor noise. The existing hardware filtering and software noise-reduction algorithms should be sufficient to meet the requirements.</a:t>
            </a:r>
          </a:p>
          <a:p>
            <a:endParaRPr lang="en-US" altLang="zh-CN" sz="1400"/>
          </a:p>
        </p:txBody>
      </p:sp>
      <p:sp>
        <p:nvSpPr>
          <p:cNvPr id="29" name="Circle: Hollow 28">
            <a:extLst>
              <a:ext uri="{FF2B5EF4-FFF2-40B4-BE49-F238E27FC236}">
                <a16:creationId xmlns:a16="http://schemas.microsoft.com/office/drawing/2014/main" id="{E42C16A2-2376-3533-A46D-BFBFD9ED5073}"/>
              </a:ext>
            </a:extLst>
          </p:cNvPr>
          <p:cNvSpPr/>
          <p:nvPr/>
        </p:nvSpPr>
        <p:spPr>
          <a:xfrm>
            <a:off x="4872355" y="1528383"/>
            <a:ext cx="569084" cy="569084"/>
          </a:xfrm>
          <a:prstGeom prst="donut">
            <a:avLst>
              <a:gd name="adj" fmla="val 364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Circle: Hollow 30">
            <a:extLst>
              <a:ext uri="{FF2B5EF4-FFF2-40B4-BE49-F238E27FC236}">
                <a16:creationId xmlns:a16="http://schemas.microsoft.com/office/drawing/2014/main" id="{79AA5835-9A38-CAD0-C2D6-1E32BA5BBA95}"/>
              </a:ext>
            </a:extLst>
          </p:cNvPr>
          <p:cNvSpPr/>
          <p:nvPr/>
        </p:nvSpPr>
        <p:spPr>
          <a:xfrm>
            <a:off x="4893186" y="2350677"/>
            <a:ext cx="569084" cy="569084"/>
          </a:xfrm>
          <a:prstGeom prst="donut">
            <a:avLst>
              <a:gd name="adj" fmla="val 364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Circle: Hollow 32">
            <a:extLst>
              <a:ext uri="{FF2B5EF4-FFF2-40B4-BE49-F238E27FC236}">
                <a16:creationId xmlns:a16="http://schemas.microsoft.com/office/drawing/2014/main" id="{E9229205-4A38-5A3A-626F-A7C45F1FA0B5}"/>
              </a:ext>
            </a:extLst>
          </p:cNvPr>
          <p:cNvSpPr/>
          <p:nvPr/>
        </p:nvSpPr>
        <p:spPr>
          <a:xfrm>
            <a:off x="4872355" y="4407411"/>
            <a:ext cx="569084" cy="569084"/>
          </a:xfrm>
          <a:prstGeom prst="donut">
            <a:avLst>
              <a:gd name="adj" fmla="val 364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extLst>
    <p:ext uri="{6950BFC3-D8DA-4A85-94F7-54DA5524770B}">
      <p188:commentRel xmlns:p188="http://schemas.microsoft.com/office/powerpoint/2018/8/main" r:id="rId7"/>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13080" y="577850"/>
            <a:ext cx="1369695" cy="368300"/>
          </a:xfrm>
          <a:prstGeom prst="rect">
            <a:avLst/>
          </a:prstGeom>
          <a:noFill/>
        </p:spPr>
        <p:txBody>
          <a:bodyPr wrap="square" rtlCol="0">
            <a:spAutoFit/>
          </a:bodyPr>
          <a:lstStyle/>
          <a:p>
            <a:r>
              <a:rPr lang="en-US" altLang="zh-CN"/>
              <a:t>API</a:t>
            </a:r>
          </a:p>
        </p:txBody>
      </p:sp>
      <p:sp>
        <p:nvSpPr>
          <p:cNvPr id="5" name="文本框 4"/>
          <p:cNvSpPr txBox="1"/>
          <p:nvPr>
            <p:custDataLst>
              <p:tags r:id="rId1"/>
            </p:custDataLst>
          </p:nvPr>
        </p:nvSpPr>
        <p:spPr>
          <a:xfrm>
            <a:off x="513080" y="1114425"/>
            <a:ext cx="1213485" cy="576580"/>
          </a:xfrm>
          <a:prstGeom prst="rect">
            <a:avLst/>
          </a:prstGeom>
        </p:spPr>
        <p:style>
          <a:lnRef idx="0">
            <a:srgbClr val="FFFFFF"/>
          </a:lnRef>
          <a:fillRef idx="1">
            <a:schemeClr val="accent5"/>
          </a:fillRef>
          <a:effectRef idx="0">
            <a:srgbClr val="FFFFFF"/>
          </a:effectRef>
          <a:fontRef idx="minor">
            <a:schemeClr val="lt1"/>
          </a:fontRef>
        </p:style>
        <p:txBody>
          <a:bodyPr wrap="square" rtlCol="0">
            <a:noAutofit/>
          </a:bodyPr>
          <a:lstStyle/>
          <a:p>
            <a:r>
              <a:rPr lang="en-US" altLang="zh-CN"/>
              <a:t>Port 7500</a:t>
            </a:r>
          </a:p>
          <a:p>
            <a:endParaRPr lang="en-US" altLang="zh-CN"/>
          </a:p>
        </p:txBody>
      </p:sp>
      <p:sp>
        <p:nvSpPr>
          <p:cNvPr id="6" name="文本框 5"/>
          <p:cNvSpPr txBox="1"/>
          <p:nvPr>
            <p:custDataLst>
              <p:tags r:id="rId2"/>
            </p:custDataLst>
          </p:nvPr>
        </p:nvSpPr>
        <p:spPr>
          <a:xfrm>
            <a:off x="669925" y="3930650"/>
            <a:ext cx="1213485" cy="576580"/>
          </a:xfrm>
          <a:prstGeom prst="rect">
            <a:avLst/>
          </a:prstGeom>
          <a:solidFill>
            <a:schemeClr val="accent2">
              <a:lumMod val="40000"/>
              <a:lumOff val="60000"/>
            </a:schemeClr>
          </a:solidFill>
          <a:ln>
            <a:solidFill>
              <a:schemeClr val="accent2">
                <a:lumMod val="40000"/>
                <a:lumOff val="60000"/>
              </a:schemeClr>
            </a:solidFill>
          </a:ln>
        </p:spPr>
        <p:style>
          <a:lnRef idx="0">
            <a:srgbClr val="FFFFFF"/>
          </a:lnRef>
          <a:fillRef idx="1">
            <a:schemeClr val="accent5"/>
          </a:fillRef>
          <a:effectRef idx="0">
            <a:srgbClr val="FFFFFF"/>
          </a:effectRef>
          <a:fontRef idx="minor">
            <a:schemeClr val="lt1"/>
          </a:fontRef>
        </p:style>
        <p:txBody>
          <a:bodyPr wrap="square" rtlCol="0">
            <a:noAutofit/>
          </a:bodyPr>
          <a:lstStyle/>
          <a:p>
            <a:r>
              <a:rPr lang="en-US" altLang="zh-CN"/>
              <a:t>Node 0</a:t>
            </a:r>
          </a:p>
        </p:txBody>
      </p:sp>
      <p:sp>
        <p:nvSpPr>
          <p:cNvPr id="7" name="文本框 6"/>
          <p:cNvSpPr txBox="1"/>
          <p:nvPr>
            <p:custDataLst>
              <p:tags r:id="rId3"/>
            </p:custDataLst>
          </p:nvPr>
        </p:nvSpPr>
        <p:spPr>
          <a:xfrm>
            <a:off x="532130" y="3562350"/>
            <a:ext cx="1704340" cy="368300"/>
          </a:xfrm>
          <a:prstGeom prst="rect">
            <a:avLst/>
          </a:prstGeom>
          <a:noFill/>
        </p:spPr>
        <p:txBody>
          <a:bodyPr wrap="square" rtlCol="0">
            <a:spAutoFit/>
          </a:bodyPr>
          <a:lstStyle/>
          <a:p>
            <a:r>
              <a:rPr lang="en-US" altLang="zh-CN"/>
              <a:t>Arduino node</a:t>
            </a:r>
          </a:p>
        </p:txBody>
      </p:sp>
      <p:sp>
        <p:nvSpPr>
          <p:cNvPr id="8" name="文本框 7"/>
          <p:cNvSpPr txBox="1"/>
          <p:nvPr>
            <p:custDataLst>
              <p:tags r:id="rId4"/>
            </p:custDataLst>
          </p:nvPr>
        </p:nvSpPr>
        <p:spPr>
          <a:xfrm>
            <a:off x="620395" y="5697855"/>
            <a:ext cx="1312545" cy="776605"/>
          </a:xfrm>
          <a:prstGeom prst="rect">
            <a:avLst/>
          </a:prstGeom>
          <a:solidFill>
            <a:schemeClr val="accent6">
              <a:lumMod val="40000"/>
              <a:lumOff val="60000"/>
            </a:schemeClr>
          </a:solidFill>
          <a:ln>
            <a:solidFill>
              <a:schemeClr val="accent2">
                <a:lumMod val="40000"/>
                <a:lumOff val="60000"/>
              </a:schemeClr>
            </a:solidFill>
          </a:ln>
        </p:spPr>
        <p:style>
          <a:lnRef idx="0">
            <a:srgbClr val="FFFFFF"/>
          </a:lnRef>
          <a:fillRef idx="1">
            <a:schemeClr val="accent5"/>
          </a:fillRef>
          <a:effectRef idx="0">
            <a:srgbClr val="FFFFFF"/>
          </a:effectRef>
          <a:fontRef idx="minor">
            <a:schemeClr val="lt1"/>
          </a:fontRef>
        </p:style>
        <p:txBody>
          <a:bodyPr wrap="square" rtlCol="0">
            <a:noAutofit/>
          </a:bodyPr>
          <a:lstStyle/>
          <a:p>
            <a:r>
              <a:rPr lang="en-US" altLang="zh-CN"/>
              <a:t>4 Actuator &amp; 4 Sensors</a:t>
            </a:r>
          </a:p>
        </p:txBody>
      </p:sp>
      <p:sp>
        <p:nvSpPr>
          <p:cNvPr id="9" name="文本框 8"/>
          <p:cNvSpPr txBox="1"/>
          <p:nvPr>
            <p:custDataLst>
              <p:tags r:id="rId5"/>
            </p:custDataLst>
          </p:nvPr>
        </p:nvSpPr>
        <p:spPr>
          <a:xfrm>
            <a:off x="482600" y="5329555"/>
            <a:ext cx="1704340" cy="368300"/>
          </a:xfrm>
          <a:prstGeom prst="rect">
            <a:avLst/>
          </a:prstGeom>
          <a:noFill/>
        </p:spPr>
        <p:txBody>
          <a:bodyPr wrap="square" rtlCol="0">
            <a:spAutoFit/>
          </a:bodyPr>
          <a:lstStyle/>
          <a:p>
            <a:r>
              <a:rPr lang="en-US" altLang="zh-CN"/>
              <a:t>Actuator</a:t>
            </a:r>
          </a:p>
        </p:txBody>
      </p:sp>
      <p:sp>
        <p:nvSpPr>
          <p:cNvPr id="10" name="下箭头 9"/>
          <p:cNvSpPr/>
          <p:nvPr/>
        </p:nvSpPr>
        <p:spPr>
          <a:xfrm>
            <a:off x="704215" y="1987550"/>
            <a:ext cx="176530" cy="1501775"/>
          </a:xfrm>
          <a:prstGeom prst="down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上箭头 10"/>
          <p:cNvSpPr/>
          <p:nvPr/>
        </p:nvSpPr>
        <p:spPr>
          <a:xfrm>
            <a:off x="1424940" y="2002790"/>
            <a:ext cx="168275" cy="1433195"/>
          </a:xfrm>
          <a:prstGeom prst="up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下箭头 11"/>
          <p:cNvSpPr/>
          <p:nvPr/>
        </p:nvSpPr>
        <p:spPr>
          <a:xfrm>
            <a:off x="1056640" y="4646930"/>
            <a:ext cx="544195" cy="659130"/>
          </a:xfrm>
          <a:prstGeom prst="down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文本框 12"/>
          <p:cNvSpPr txBox="1"/>
          <p:nvPr/>
        </p:nvSpPr>
        <p:spPr>
          <a:xfrm>
            <a:off x="0" y="2534285"/>
            <a:ext cx="892175" cy="369570"/>
          </a:xfrm>
          <a:prstGeom prst="rect">
            <a:avLst/>
          </a:prstGeom>
          <a:noFill/>
        </p:spPr>
        <p:txBody>
          <a:bodyPr wrap="square" rtlCol="0">
            <a:noAutofit/>
          </a:bodyPr>
          <a:lstStyle/>
          <a:p>
            <a:r>
              <a:rPr lang="en-US" altLang="zh-CN"/>
              <a:t>target</a:t>
            </a:r>
          </a:p>
          <a:p>
            <a:endParaRPr lang="en-US" altLang="zh-CN"/>
          </a:p>
        </p:txBody>
      </p:sp>
      <p:sp>
        <p:nvSpPr>
          <p:cNvPr id="14" name="文本框 13"/>
          <p:cNvSpPr txBox="1"/>
          <p:nvPr/>
        </p:nvSpPr>
        <p:spPr>
          <a:xfrm>
            <a:off x="1646555" y="2534285"/>
            <a:ext cx="991870" cy="375285"/>
          </a:xfrm>
          <a:prstGeom prst="rect">
            <a:avLst/>
          </a:prstGeom>
          <a:noFill/>
        </p:spPr>
        <p:txBody>
          <a:bodyPr wrap="square" rtlCol="0">
            <a:noAutofit/>
          </a:bodyPr>
          <a:lstStyle/>
          <a:p>
            <a:r>
              <a:rPr lang="en-US" altLang="zh-CN"/>
              <a:t>report</a:t>
            </a:r>
          </a:p>
        </p:txBody>
      </p:sp>
      <p:sp>
        <p:nvSpPr>
          <p:cNvPr id="15" name="文本框 14"/>
          <p:cNvSpPr txBox="1"/>
          <p:nvPr/>
        </p:nvSpPr>
        <p:spPr>
          <a:xfrm>
            <a:off x="2688590" y="139065"/>
            <a:ext cx="5787390" cy="807720"/>
          </a:xfrm>
          <a:prstGeom prst="rect">
            <a:avLst/>
          </a:prstGeom>
          <a:noFill/>
        </p:spPr>
        <p:txBody>
          <a:bodyPr wrap="square" rtlCol="0">
            <a:noAutofit/>
          </a:bodyPr>
          <a:lstStyle/>
          <a:p>
            <a:r>
              <a:rPr lang="en-US" altLang="zh-CN" sz="4000"/>
              <a:t>Add a PID controller</a:t>
            </a:r>
          </a:p>
        </p:txBody>
      </p:sp>
      <p:sp>
        <p:nvSpPr>
          <p:cNvPr id="16" name="文本框 15"/>
          <p:cNvSpPr txBox="1"/>
          <p:nvPr/>
        </p:nvSpPr>
        <p:spPr>
          <a:xfrm>
            <a:off x="2489835" y="2360930"/>
            <a:ext cx="2225675" cy="3138170"/>
          </a:xfrm>
          <a:prstGeom prst="rect">
            <a:avLst/>
          </a:prstGeom>
          <a:noFill/>
        </p:spPr>
        <p:txBody>
          <a:bodyPr wrap="square" rtlCol="0">
            <a:spAutoFit/>
          </a:bodyPr>
          <a:lstStyle/>
          <a:p>
            <a:pPr marL="342900" indent="-342900">
              <a:buAutoNum type="arabicPeriod"/>
            </a:pPr>
            <a:r>
              <a:rPr lang="en-US" altLang="zh-CN" dirty="0"/>
              <a:t>Check whether the computer has sent any new serial commands.</a:t>
            </a:r>
          </a:p>
          <a:p>
            <a:pPr marL="342900" indent="-342900">
              <a:buAutoNum type="arabicPeriod"/>
            </a:pPr>
            <a:r>
              <a:rPr lang="en-US" altLang="zh-CN" dirty="0"/>
              <a:t>Read the sensors and </a:t>
            </a:r>
            <a:r>
              <a:rPr lang="en-US" altLang="zh-CN" u="sng" dirty="0">
                <a:solidFill>
                  <a:schemeClr val="accent6">
                    <a:lumMod val="75000"/>
                  </a:schemeClr>
                </a:solidFill>
              </a:rPr>
              <a:t>control the motor</a:t>
            </a:r>
            <a:r>
              <a:rPr lang="en-US" altLang="zh-CN" dirty="0"/>
              <a:t> every 100 </a:t>
            </a:r>
            <a:r>
              <a:rPr lang="en-US" altLang="zh-CN" dirty="0" err="1"/>
              <a:t>ms.</a:t>
            </a:r>
            <a:endParaRPr lang="en-US" altLang="zh-CN" dirty="0"/>
          </a:p>
          <a:p>
            <a:pPr marL="342900" indent="-342900">
              <a:buAutoNum type="arabicPeriod"/>
            </a:pPr>
            <a:r>
              <a:rPr lang="en-US" altLang="zh-CN" dirty="0"/>
              <a:t>Send status data to Python every 1000 </a:t>
            </a:r>
            <a:r>
              <a:rPr lang="en-US" altLang="zh-CN" dirty="0" err="1"/>
              <a:t>ms.</a:t>
            </a:r>
            <a:endParaRPr lang="en-US" altLang="zh-CN" dirty="0"/>
          </a:p>
        </p:txBody>
      </p:sp>
      <p:sp>
        <p:nvSpPr>
          <p:cNvPr id="17" name="左大括号 16"/>
          <p:cNvSpPr/>
          <p:nvPr/>
        </p:nvSpPr>
        <p:spPr>
          <a:xfrm>
            <a:off x="2056130" y="2264410"/>
            <a:ext cx="713105" cy="3326130"/>
          </a:xfrm>
          <a:prstGeom prst="leftBrace">
            <a:avLst>
              <a:gd name="adj1" fmla="val 8333"/>
              <a:gd name="adj2" fmla="val 56987"/>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9" name="左大括号 18"/>
          <p:cNvSpPr/>
          <p:nvPr/>
        </p:nvSpPr>
        <p:spPr>
          <a:xfrm>
            <a:off x="4715510" y="1369060"/>
            <a:ext cx="1654175" cy="5339715"/>
          </a:xfrm>
          <a:prstGeom prst="leftBrace">
            <a:avLst>
              <a:gd name="adj1" fmla="val 8333"/>
              <a:gd name="adj2" fmla="val 48364"/>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8" name="文本框 17"/>
          <p:cNvSpPr txBox="1"/>
          <p:nvPr/>
        </p:nvSpPr>
        <p:spPr>
          <a:xfrm>
            <a:off x="5869305" y="1691005"/>
            <a:ext cx="5902960" cy="922020"/>
          </a:xfrm>
          <a:prstGeom prst="rect">
            <a:avLst/>
          </a:prstGeom>
          <a:noFill/>
        </p:spPr>
        <p:txBody>
          <a:bodyPr wrap="square" rtlCol="0">
            <a:spAutoFit/>
          </a:bodyPr>
          <a:lstStyle/>
          <a:p>
            <a:r>
              <a:rPr lang="en-US" altLang="zh-CN" dirty="0"/>
              <a:t>Step 4: Add integral (I) control, mainly to eliminate accumulated error and improve the final positioning accuracy.</a:t>
            </a:r>
          </a:p>
          <a:p>
            <a:endParaRPr lang="en-US" altLang="zh-CN" dirty="0"/>
          </a:p>
        </p:txBody>
      </p:sp>
      <p:pic>
        <p:nvPicPr>
          <p:cNvPr id="26" name="图片 25"/>
          <p:cNvPicPr>
            <a:picLocks noChangeAspect="1"/>
          </p:cNvPicPr>
          <p:nvPr/>
        </p:nvPicPr>
        <p:blipFill>
          <a:blip r:embed="rId8"/>
          <a:stretch>
            <a:fillRect/>
          </a:stretch>
        </p:blipFill>
        <p:spPr>
          <a:xfrm>
            <a:off x="5967095" y="2416810"/>
            <a:ext cx="2419350" cy="1019175"/>
          </a:xfrm>
          <a:prstGeom prst="rect">
            <a:avLst/>
          </a:prstGeom>
        </p:spPr>
      </p:pic>
      <p:sp>
        <p:nvSpPr>
          <p:cNvPr id="28" name="文本框 27"/>
          <p:cNvSpPr txBox="1"/>
          <p:nvPr/>
        </p:nvSpPr>
        <p:spPr>
          <a:xfrm>
            <a:off x="5967095" y="3300730"/>
            <a:ext cx="4064000" cy="1476375"/>
          </a:xfrm>
          <a:prstGeom prst="rect">
            <a:avLst/>
          </a:prstGeom>
          <a:noFill/>
        </p:spPr>
        <p:txBody>
          <a:bodyPr wrap="square" rtlCol="0">
            <a:spAutoFit/>
          </a:bodyPr>
          <a:lstStyle/>
          <a:p>
            <a:r>
              <a:rPr lang="en-US" altLang="zh-CN">
                <a:solidFill>
                  <a:schemeClr val="accent6">
                    <a:lumMod val="60000"/>
                    <a:lumOff val="40000"/>
                  </a:schemeClr>
                </a:solidFill>
              </a:rPr>
              <a:t>Integral control may not be necessary. </a:t>
            </a:r>
          </a:p>
          <a:p>
            <a:r>
              <a:rPr lang="en-US" altLang="zh-CN">
                <a:solidFill>
                  <a:schemeClr val="accent6">
                    <a:lumMod val="60000"/>
                    <a:lumOff val="40000"/>
                  </a:schemeClr>
                </a:solidFill>
              </a:rPr>
              <a:t>It can also easily cause oscillation.</a:t>
            </a:r>
          </a:p>
          <a:p>
            <a:r>
              <a:rPr lang="en-US" altLang="zh-CN">
                <a:solidFill>
                  <a:schemeClr val="accent6">
                    <a:lumMod val="60000"/>
                    <a:lumOff val="40000"/>
                  </a:schemeClr>
                </a:solidFill>
              </a:rPr>
              <a:t>If the test results meet the required accuracy, it can be omitted.</a:t>
            </a:r>
          </a:p>
          <a:p>
            <a:endParaRPr lang="en-US" altLang="zh-CN">
              <a:solidFill>
                <a:schemeClr val="accent6">
                  <a:lumMod val="60000"/>
                  <a:lumOff val="40000"/>
                </a:schemeClr>
              </a:solidFill>
            </a:endParaRPr>
          </a:p>
        </p:txBody>
      </p:sp>
      <p:sp>
        <p:nvSpPr>
          <p:cNvPr id="21" name="&quot;Not Allowed&quot; Symbol 20">
            <a:extLst>
              <a:ext uri="{FF2B5EF4-FFF2-40B4-BE49-F238E27FC236}">
                <a16:creationId xmlns:a16="http://schemas.microsoft.com/office/drawing/2014/main" id="{D54F4342-3B8E-41B4-E4D8-6B778450B33C}"/>
              </a:ext>
            </a:extLst>
          </p:cNvPr>
          <p:cNvSpPr/>
          <p:nvPr/>
        </p:nvSpPr>
        <p:spPr>
          <a:xfrm>
            <a:off x="5267263" y="1703008"/>
            <a:ext cx="569084" cy="569084"/>
          </a:xfrm>
          <a:prstGeom prst="noSmoking">
            <a:avLst>
              <a:gd name="adj" fmla="val 426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Circle: Hollow 24">
            <a:extLst>
              <a:ext uri="{FF2B5EF4-FFF2-40B4-BE49-F238E27FC236}">
                <a16:creationId xmlns:a16="http://schemas.microsoft.com/office/drawing/2014/main" id="{C6FD2277-C925-7F40-BF1B-BB91CB55FA11}"/>
              </a:ext>
            </a:extLst>
          </p:cNvPr>
          <p:cNvSpPr/>
          <p:nvPr/>
        </p:nvSpPr>
        <p:spPr>
          <a:xfrm>
            <a:off x="5609528" y="3312532"/>
            <a:ext cx="357567" cy="357567"/>
          </a:xfrm>
          <a:prstGeom prst="donut">
            <a:avLst>
              <a:gd name="adj" fmla="val 364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extLst>
    <p:ext uri="{6950BFC3-D8DA-4A85-94F7-54DA5524770B}">
      <p188:commentRel xmlns:p188="http://schemas.microsoft.com/office/powerpoint/2018/8/main" r:id="rId7"/>
    </p:ext>
  </p:extLst>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56.75,&quot;left&quot;:40.4,&quot;top&quot;:87.75,&quot;width&quot;:105.5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31.05,&quot;left&quot;:29.55,&quot;top&quot;:87.75,&quot;width&quot;:146.5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31.05,&quot;left&quot;:29.55,&quot;top&quot;:87.75,&quot;width&quot;:146.5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31.05,&quot;left&quot;:29.55,&quot;top&quot;:87.75,&quot;width&quot;:146.5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31.05,&quot;left&quot;:29.55,&quot;top&quot;:87.75,&quot;width&quot;:146.5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56.75,&quot;left&quot;:40.4,&quot;top&quot;:87.75,&quot;width&quot;:105.5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31.05,&quot;left&quot;:29.55,&quot;top&quot;:87.75,&quot;width&quot;:146.5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31.05,&quot;left&quot;:29.55,&quot;top&quot;:87.75,&quot;width&quot;:146.5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31.05,&quot;left&quot;:29.55,&quot;top&quot;:87.75,&quot;width&quot;:146.5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31.05,&quot;left&quot;:29.55,&quot;top&quot;:87.75,&quot;width&quot;:146.5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156.75,&quot;left&quot;:40.4,&quot;top&quot;:87.75,&quot;width&quot;:105.5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31.05,&quot;left&quot;:29.55,&quot;top&quot;:87.75,&quot;width&quot;:146.5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31.05,&quot;left&quot;:29.55,&quot;top&quot;:87.75,&quot;width&quot;:146.5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31.05,&quot;left&quot;:29.55,&quot;top&quot;:87.75,&quot;width&quot;:146.5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31.05,&quot;left&quot;:29.55,&quot;top&quot;:87.75,&quot;width&quot;:146.55}"/>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640</Words>
  <Application>Microsoft Office PowerPoint</Application>
  <PresentationFormat>Widescreen</PresentationFormat>
  <Paragraphs>72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Bahnschrift Light</vt:lpstr>
      <vt:lpstr>Calibri</vt:lpstr>
      <vt:lpstr>WPS</vt:lpstr>
      <vt:lpstr>arduino upgrade </vt:lpstr>
      <vt:lpstr>PowerPoint Presentation</vt:lpstr>
      <vt:lpstr>Limitations of the current control method:</vt:lpstr>
      <vt:lpstr>PID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KHAJEHEE　Arastoo</cp:lastModifiedBy>
  <cp:revision>6</cp:revision>
  <dcterms:created xsi:type="dcterms:W3CDTF">2023-08-09T12:44:00Z</dcterms:created>
  <dcterms:modified xsi:type="dcterms:W3CDTF">2026-06-27T04:08:13Z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E382180F66124AF6A5EBB7E2EC853514_12</vt:lpwstr>
  </property>
</Properties>
</file>